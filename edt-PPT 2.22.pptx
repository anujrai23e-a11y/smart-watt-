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7"/>
  </p:notesMasterIdLst>
  <p:handoutMasterIdLst>
    <p:handoutMasterId r:id="rId18"/>
  </p:handoutMasterIdLst>
  <p:sldIdLst>
    <p:sldId id="380" r:id="rId3"/>
    <p:sldId id="392" r:id="rId4"/>
    <p:sldId id="369" r:id="rId5"/>
    <p:sldId id="396" r:id="rId6"/>
    <p:sldId id="382" r:id="rId7"/>
    <p:sldId id="397" r:id="rId8"/>
    <p:sldId id="393" r:id="rId9"/>
    <p:sldId id="389" r:id="rId10"/>
    <p:sldId id="395" r:id="rId11"/>
    <p:sldId id="386" r:id="rId12"/>
    <p:sldId id="385" r:id="rId13"/>
    <p:sldId id="398" r:id="rId14"/>
    <p:sldId id="399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D113AB-6D7E-4850-8F8E-B97CBBA37D47}" v="6" dt="2026-03-10T17:01:13.1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60" autoAdjust="0"/>
    <p:restoredTop sz="0" autoAdjust="0"/>
  </p:normalViewPr>
  <p:slideViewPr>
    <p:cSldViewPr snapToGrid="0">
      <p:cViewPr varScale="1">
        <p:scale>
          <a:sx n="82" d="100"/>
          <a:sy n="82" d="100"/>
        </p:scale>
        <p:origin x="27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rai" userId="931d4637051e4644" providerId="LiveId" clId="{E3385E9E-D633-4451-A576-52EF32ABD193}"/>
    <pc:docChg chg="undo custSel addSld modSld sldOrd">
      <pc:chgData name="anuj rai" userId="931d4637051e4644" providerId="LiveId" clId="{E3385E9E-D633-4451-A576-52EF32ABD193}" dt="2026-03-10T17:06:46.686" v="116" actId="14100"/>
      <pc:docMkLst>
        <pc:docMk/>
      </pc:docMkLst>
      <pc:sldChg chg="modSp mod">
        <pc:chgData name="anuj rai" userId="931d4637051e4644" providerId="LiveId" clId="{E3385E9E-D633-4451-A576-52EF32ABD193}" dt="2026-03-10T16:52:42.305" v="1" actId="115"/>
        <pc:sldMkLst>
          <pc:docMk/>
          <pc:sldMk cId="2963101225" sldId="380"/>
        </pc:sldMkLst>
        <pc:spChg chg="mod">
          <ac:chgData name="anuj rai" userId="931d4637051e4644" providerId="LiveId" clId="{E3385E9E-D633-4451-A576-52EF32ABD193}" dt="2026-03-10T16:52:42.305" v="1" actId="115"/>
          <ac:spMkLst>
            <pc:docMk/>
            <pc:sldMk cId="2963101225" sldId="380"/>
            <ac:spMk id="2" creationId="{00000000-0000-0000-0000-000000000000}"/>
          </ac:spMkLst>
        </pc:spChg>
      </pc:sldChg>
      <pc:sldChg chg="addSp delSp modSp new mod ord modClrScheme chgLayout">
        <pc:chgData name="anuj rai" userId="931d4637051e4644" providerId="LiveId" clId="{E3385E9E-D633-4451-A576-52EF32ABD193}" dt="2026-03-10T17:06:07.532" v="112" actId="115"/>
        <pc:sldMkLst>
          <pc:docMk/>
          <pc:sldMk cId="2351111199" sldId="398"/>
        </pc:sldMkLst>
        <pc:spChg chg="del">
          <ac:chgData name="anuj rai" userId="931d4637051e4644" providerId="LiveId" clId="{E3385E9E-D633-4451-A576-52EF32ABD193}" dt="2026-03-10T16:55:24.955" v="5" actId="478"/>
          <ac:spMkLst>
            <pc:docMk/>
            <pc:sldMk cId="2351111199" sldId="398"/>
            <ac:spMk id="2" creationId="{8ED470C2-78F6-8D70-E216-E4B981936983}"/>
          </ac:spMkLst>
        </pc:spChg>
        <pc:spChg chg="del">
          <ac:chgData name="anuj rai" userId="931d4637051e4644" providerId="LiveId" clId="{E3385E9E-D633-4451-A576-52EF32ABD193}" dt="2026-03-10T16:55:27.101" v="6" actId="478"/>
          <ac:spMkLst>
            <pc:docMk/>
            <pc:sldMk cId="2351111199" sldId="398"/>
            <ac:spMk id="3" creationId="{FA6FBFD7-FE87-53FF-5CBB-E111DCED85D5}"/>
          </ac:spMkLst>
        </pc:spChg>
        <pc:spChg chg="mod ord">
          <ac:chgData name="anuj rai" userId="931d4637051e4644" providerId="LiveId" clId="{E3385E9E-D633-4451-A576-52EF32ABD193}" dt="2026-03-10T17:04:16.075" v="40" actId="700"/>
          <ac:spMkLst>
            <pc:docMk/>
            <pc:sldMk cId="2351111199" sldId="398"/>
            <ac:spMk id="4" creationId="{D5D7D71A-E1A4-7F1B-3C56-185E994891D2}"/>
          </ac:spMkLst>
        </pc:spChg>
        <pc:spChg chg="mod">
          <ac:chgData name="anuj rai" userId="931d4637051e4644" providerId="LiveId" clId="{E3385E9E-D633-4451-A576-52EF32ABD193}" dt="2026-03-10T16:58:11.174" v="20" actId="14100"/>
          <ac:spMkLst>
            <pc:docMk/>
            <pc:sldMk cId="2351111199" sldId="398"/>
            <ac:spMk id="5" creationId="{CFEE1578-6B92-9A92-ACCB-0CB967BA2861}"/>
          </ac:spMkLst>
        </pc:spChg>
        <pc:spChg chg="add mod">
          <ac:chgData name="anuj rai" userId="931d4637051e4644" providerId="LiveId" clId="{E3385E9E-D633-4451-A576-52EF32ABD193}" dt="2026-03-10T16:58:12.673" v="24"/>
          <ac:spMkLst>
            <pc:docMk/>
            <pc:sldMk cId="2351111199" sldId="398"/>
            <ac:spMk id="7" creationId="{90FED998-54D0-67DE-9CBE-FC655AFF30D1}"/>
          </ac:spMkLst>
        </pc:spChg>
        <pc:spChg chg="add mod">
          <ac:chgData name="anuj rai" userId="931d4637051e4644" providerId="LiveId" clId="{E3385E9E-D633-4451-A576-52EF32ABD193}" dt="2026-03-10T16:58:12.673" v="24"/>
          <ac:spMkLst>
            <pc:docMk/>
            <pc:sldMk cId="2351111199" sldId="398"/>
            <ac:spMk id="10" creationId="{89573CD7-DBF1-F7E3-CD46-E8CC1C0F8125}"/>
          </ac:spMkLst>
        </pc:spChg>
        <pc:spChg chg="add mod">
          <ac:chgData name="anuj rai" userId="931d4637051e4644" providerId="LiveId" clId="{E3385E9E-D633-4451-A576-52EF32ABD193}" dt="2026-03-10T16:58:12.673" v="24"/>
          <ac:spMkLst>
            <pc:docMk/>
            <pc:sldMk cId="2351111199" sldId="398"/>
            <ac:spMk id="18" creationId="{1A0C5171-7950-2949-196B-7935568C308E}"/>
          </ac:spMkLst>
        </pc:spChg>
        <pc:spChg chg="add mod">
          <ac:chgData name="anuj rai" userId="931d4637051e4644" providerId="LiveId" clId="{E3385E9E-D633-4451-A576-52EF32ABD193}" dt="2026-03-10T16:58:12.673" v="24"/>
          <ac:spMkLst>
            <pc:docMk/>
            <pc:sldMk cId="2351111199" sldId="398"/>
            <ac:spMk id="21" creationId="{353E4BC5-4F70-2555-3778-3238E61DF20B}"/>
          </ac:spMkLst>
        </pc:spChg>
        <pc:spChg chg="add mod">
          <ac:chgData name="anuj rai" userId="931d4637051e4644" providerId="LiveId" clId="{E3385E9E-D633-4451-A576-52EF32ABD193}" dt="2026-03-10T16:58:12.673" v="24"/>
          <ac:spMkLst>
            <pc:docMk/>
            <pc:sldMk cId="2351111199" sldId="398"/>
            <ac:spMk id="22" creationId="{3CA972D3-0F51-2971-BF10-EB25D61050A9}"/>
          </ac:spMkLst>
        </pc:spChg>
        <pc:spChg chg="add mod">
          <ac:chgData name="anuj rai" userId="931d4637051e4644" providerId="LiveId" clId="{E3385E9E-D633-4451-A576-52EF32ABD193}" dt="2026-03-10T16:58:12.673" v="24"/>
          <ac:spMkLst>
            <pc:docMk/>
            <pc:sldMk cId="2351111199" sldId="398"/>
            <ac:spMk id="24" creationId="{186C095F-3C75-B8C8-BF11-FD9CA2167B0B}"/>
          </ac:spMkLst>
        </pc:spChg>
        <pc:spChg chg="add mod">
          <ac:chgData name="anuj rai" userId="931d4637051e4644" providerId="LiveId" clId="{E3385E9E-D633-4451-A576-52EF32ABD193}" dt="2026-03-10T16:58:12.673" v="24"/>
          <ac:spMkLst>
            <pc:docMk/>
            <pc:sldMk cId="2351111199" sldId="398"/>
            <ac:spMk id="29" creationId="{710CBD9C-6A69-C56D-C746-AAB08992E619}"/>
          </ac:spMkLst>
        </pc:spChg>
        <pc:spChg chg="add mod">
          <ac:chgData name="anuj rai" userId="931d4637051e4644" providerId="LiveId" clId="{E3385E9E-D633-4451-A576-52EF32ABD193}" dt="2026-03-10T16:58:12.673" v="24"/>
          <ac:spMkLst>
            <pc:docMk/>
            <pc:sldMk cId="2351111199" sldId="398"/>
            <ac:spMk id="37" creationId="{113F0536-4789-678F-58EA-2CF79962C45C}"/>
          </ac:spMkLst>
        </pc:spChg>
        <pc:spChg chg="add mod">
          <ac:chgData name="anuj rai" userId="931d4637051e4644" providerId="LiveId" clId="{E3385E9E-D633-4451-A576-52EF32ABD193}" dt="2026-03-10T16:58:12.673" v="24"/>
          <ac:spMkLst>
            <pc:docMk/>
            <pc:sldMk cId="2351111199" sldId="398"/>
            <ac:spMk id="40" creationId="{E447E55A-3210-0DE8-73FB-E454E606A608}"/>
          </ac:spMkLst>
        </pc:spChg>
        <pc:spChg chg="add mod">
          <ac:chgData name="anuj rai" userId="931d4637051e4644" providerId="LiveId" clId="{E3385E9E-D633-4451-A576-52EF32ABD193}" dt="2026-03-10T16:58:12.673" v="24"/>
          <ac:spMkLst>
            <pc:docMk/>
            <pc:sldMk cId="2351111199" sldId="398"/>
            <ac:spMk id="48" creationId="{0CF6E23D-A6DF-05DC-22DD-CF1358AA3E9C}"/>
          </ac:spMkLst>
        </pc:spChg>
        <pc:spChg chg="add mod ord">
          <ac:chgData name="anuj rai" userId="931d4637051e4644" providerId="LiveId" clId="{E3385E9E-D633-4451-A576-52EF32ABD193}" dt="2026-03-10T17:06:07.532" v="112" actId="115"/>
          <ac:spMkLst>
            <pc:docMk/>
            <pc:sldMk cId="2351111199" sldId="398"/>
            <ac:spMk id="58" creationId="{FA52A6E3-3059-1CF6-52B9-0F1973A9E34D}"/>
          </ac:spMkLst>
        </pc:spChg>
        <pc:graphicFrameChg chg="add del mod">
          <ac:chgData name="anuj rai" userId="931d4637051e4644" providerId="LiveId" clId="{E3385E9E-D633-4451-A576-52EF32ABD193}" dt="2026-03-10T17:01:59.243" v="29" actId="478"/>
          <ac:graphicFrameMkLst>
            <pc:docMk/>
            <pc:sldMk cId="2351111199" sldId="398"/>
            <ac:graphicFrameMk id="55" creationId="{6D27C432-E5BE-48A6-FEDD-59913442DD84}"/>
          </ac:graphicFrameMkLst>
        </pc:graphicFrameChg>
        <pc:picChg chg="add mod">
          <ac:chgData name="anuj rai" userId="931d4637051e4644" providerId="LiveId" clId="{E3385E9E-D633-4451-A576-52EF32ABD193}" dt="2026-03-10T17:04:06.720" v="39" actId="1076"/>
          <ac:picMkLst>
            <pc:docMk/>
            <pc:sldMk cId="2351111199" sldId="398"/>
            <ac:picMk id="57" creationId="{10D28E06-7F3F-8434-372F-E08155A2DBA5}"/>
          </ac:picMkLst>
        </pc:picChg>
      </pc:sldChg>
      <pc:sldChg chg="addSp delSp modSp new mod modClrScheme chgLayout">
        <pc:chgData name="anuj rai" userId="931d4637051e4644" providerId="LiveId" clId="{E3385E9E-D633-4451-A576-52EF32ABD193}" dt="2026-03-10T17:06:46.686" v="116" actId="14100"/>
        <pc:sldMkLst>
          <pc:docMk/>
          <pc:sldMk cId="495811455" sldId="399"/>
        </pc:sldMkLst>
        <pc:spChg chg="mod ord">
          <ac:chgData name="anuj rai" userId="931d4637051e4644" providerId="LiveId" clId="{E3385E9E-D633-4451-A576-52EF32ABD193}" dt="2026-03-10T17:03:24.275" v="37" actId="700"/>
          <ac:spMkLst>
            <pc:docMk/>
            <pc:sldMk cId="495811455" sldId="399"/>
            <ac:spMk id="2" creationId="{7F14F8DC-CE74-0EF7-3B0E-9B5A7F54E2B4}"/>
          </ac:spMkLst>
        </pc:spChg>
        <pc:spChg chg="add del mod ord">
          <ac:chgData name="anuj rai" userId="931d4637051e4644" providerId="LiveId" clId="{E3385E9E-D633-4451-A576-52EF32ABD193}" dt="2026-03-10T17:06:28.716" v="113" actId="478"/>
          <ac:spMkLst>
            <pc:docMk/>
            <pc:sldMk cId="495811455" sldId="399"/>
            <ac:spMk id="5" creationId="{B9177DA6-3FDA-AE83-6F3A-2A6C0CE100C9}"/>
          </ac:spMkLst>
        </pc:spChg>
        <pc:picChg chg="add mod">
          <ac:chgData name="anuj rai" userId="931d4637051e4644" providerId="LiveId" clId="{E3385E9E-D633-4451-A576-52EF32ABD193}" dt="2026-03-10T17:06:46.686" v="116" actId="14100"/>
          <ac:picMkLst>
            <pc:docMk/>
            <pc:sldMk cId="495811455" sldId="399"/>
            <ac:picMk id="4" creationId="{A439957B-A5BC-744A-CA37-5AE2C3FFFCF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9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B117F1E-8D7B-CF0F-795D-A27D3F3554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815128-27CD-4A1C-B65C-CCD5989A55F3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5589A03-F76A-FC4A-4BFC-B3E97354A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EB6EB6B-7B82-54B1-8453-BDD2EC3AF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Gary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Watch what people do with your site/application, not what they say about a design.</a:t>
            </a:r>
          </a:p>
        </p:txBody>
      </p:sp>
    </p:spTree>
    <p:extLst>
      <p:ext uri="{BB962C8B-B14F-4D97-AF65-F5344CB8AC3E}">
        <p14:creationId xmlns:p14="http://schemas.microsoft.com/office/powerpoint/2010/main" val="893213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B117F1E-8D7B-CF0F-795D-A27D3F3554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815128-27CD-4A1C-B65C-CCD5989A55F3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5589A03-F76A-FC4A-4BFC-B3E97354A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EB6EB6B-7B82-54B1-8453-BDD2EC3AF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Gary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Watch what people do with your site/application, not what they say about a design.</a:t>
            </a:r>
          </a:p>
        </p:txBody>
      </p:sp>
    </p:spTree>
    <p:extLst>
      <p:ext uri="{BB962C8B-B14F-4D97-AF65-F5344CB8AC3E}">
        <p14:creationId xmlns:p14="http://schemas.microsoft.com/office/powerpoint/2010/main" val="2355244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B117F1E-8D7B-CF0F-795D-A27D3F3554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815128-27CD-4A1C-B65C-CCD5989A55F3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5589A03-F76A-FC4A-4BFC-B3E97354A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EB6EB6B-7B82-54B1-8453-BDD2EC3AF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Gary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Watch what people do with your site/application, not what they say about a design.</a:t>
            </a:r>
          </a:p>
        </p:txBody>
      </p:sp>
    </p:spTree>
    <p:extLst>
      <p:ext uri="{BB962C8B-B14F-4D97-AF65-F5344CB8AC3E}">
        <p14:creationId xmlns:p14="http://schemas.microsoft.com/office/powerpoint/2010/main" val="729768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B117F1E-8D7B-CF0F-795D-A27D3F3554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815128-27CD-4A1C-B65C-CCD5989A55F3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5589A03-F76A-FC4A-4BFC-B3E97354A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EB6EB6B-7B82-54B1-8453-BDD2EC3AF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Gary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Watch what people do with your site/application, not what they say about a design.</a:t>
            </a:r>
          </a:p>
        </p:txBody>
      </p:sp>
    </p:spTree>
    <p:extLst>
      <p:ext uri="{BB962C8B-B14F-4D97-AF65-F5344CB8AC3E}">
        <p14:creationId xmlns:p14="http://schemas.microsoft.com/office/powerpoint/2010/main" val="1137306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B117F1E-8D7B-CF0F-795D-A27D3F3554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815128-27CD-4A1C-B65C-CCD5989A55F3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5589A03-F76A-FC4A-4BFC-B3E97354A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EB6EB6B-7B82-54B1-8453-BDD2EC3AF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Gary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Watch what people do with your site/application, not what they say about a design.</a:t>
            </a:r>
          </a:p>
        </p:txBody>
      </p:sp>
    </p:spTree>
    <p:extLst>
      <p:ext uri="{BB962C8B-B14F-4D97-AF65-F5344CB8AC3E}">
        <p14:creationId xmlns:p14="http://schemas.microsoft.com/office/powerpoint/2010/main" val="525306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B117F1E-8D7B-CF0F-795D-A27D3F3554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C815128-27CD-4A1C-B65C-CCD5989A55F3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75589A03-F76A-FC4A-4BFC-B3E97354A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EB6EB6B-7B82-54B1-8453-BDD2EC3AF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Gary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Watch what people do with your site/application, not what they say about a design.</a:t>
            </a:r>
          </a:p>
        </p:txBody>
      </p:sp>
    </p:spTree>
    <p:extLst>
      <p:ext uri="{BB962C8B-B14F-4D97-AF65-F5344CB8AC3E}">
        <p14:creationId xmlns:p14="http://schemas.microsoft.com/office/powerpoint/2010/main" val="342986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8299" y="1070952"/>
            <a:ext cx="8915400" cy="954107"/>
          </a:xfrm>
        </p:spPr>
        <p:txBody>
          <a:bodyPr>
            <a:norm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4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IOT-BASED SMART ENERGY METER WITH CLOUD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4926" y="5023756"/>
            <a:ext cx="7246657" cy="1169692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350"/>
              </a:spcBef>
            </a:pPr>
            <a:endParaRPr lang="en-US" sz="11200" b="1" strike="sngStrike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50"/>
              </a:spcBef>
            </a:pP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BACHELOR OF ELECTRONICS AND COMMUNICATION(AU-3)</a:t>
            </a:r>
          </a:p>
          <a:p>
            <a:pPr>
              <a:lnSpc>
                <a:spcPct val="120000"/>
              </a:lnSpc>
              <a:spcBef>
                <a:spcPts val="0"/>
              </a:spcBef>
              <a:tabLst>
                <a:tab pos="4858385" algn="l"/>
              </a:tabLst>
            </a:pPr>
            <a:r>
              <a:rPr lang="en-US" sz="7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INSTITUTE – UIE </a:t>
            </a:r>
          </a:p>
          <a:p>
            <a:pPr>
              <a:lnSpc>
                <a:spcPct val="120000"/>
              </a:lnSpc>
              <a:spcBef>
                <a:spcPts val="0"/>
              </a:spcBef>
              <a:tabLst>
                <a:tab pos="4858385" algn="l"/>
              </a:tabLst>
            </a:pPr>
            <a:r>
              <a:rPr lang="en-IN" sz="7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CHANDIGARH UNIVERSITY</a:t>
            </a:r>
            <a:endParaRPr lang="en-IN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14415" y="3177239"/>
            <a:ext cx="3628237" cy="95410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P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RESENTED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 B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Y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:</a:t>
            </a:r>
          </a:p>
          <a:p>
            <a:pPr algn="ctr"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Anuj Kumar (25bec10118-312 “A”)</a:t>
            </a:r>
          </a:p>
          <a:p>
            <a:pPr algn="ctr">
              <a:defRPr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Lakshit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896" y="3038598"/>
            <a:ext cx="3505200" cy="1754324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U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NDER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THE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 S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UPERVISION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OF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新細明體"/>
                <a:cs typeface="Times New Roman" pitchFamily="18" charset="0"/>
              </a:rPr>
              <a:t> 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Simran ma’am</a:t>
            </a:r>
          </a:p>
          <a:p>
            <a:pPr>
              <a:defRPr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en-IN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59DBDC-C18B-40F1-85C7-220CEE671877}"/>
              </a:ext>
            </a:extLst>
          </p:cNvPr>
          <p:cNvSpPr/>
          <p:nvPr/>
        </p:nvSpPr>
        <p:spPr>
          <a:xfrm>
            <a:off x="4841156" y="6223456"/>
            <a:ext cx="16437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March 11th,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F1368-428E-4F8B-86E7-2E6E1327E8F9}"/>
              </a:ext>
            </a:extLst>
          </p:cNvPr>
          <p:cNvSpPr txBox="1"/>
          <p:nvPr/>
        </p:nvSpPr>
        <p:spPr>
          <a:xfrm>
            <a:off x="2876550" y="471597"/>
            <a:ext cx="64388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itchFamily="18" charset="0"/>
              </a:rPr>
              <a:t>End Sem. Presentation</a:t>
            </a:r>
            <a:b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</a:t>
            </a:r>
            <a:endParaRPr lang="en-I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5FCBE-A1EA-06E5-10B4-9ACC5B90AE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379" y="3150197"/>
            <a:ext cx="3859753" cy="153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0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073" y="512546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Outlines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8192E4A-E230-4D5A-A049-697A409B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662375-0841-1DBD-CA8C-2C752A2A7ECA}"/>
              </a:ext>
            </a:extLst>
          </p:cNvPr>
          <p:cNvCxnSpPr>
            <a:cxnSpLocks/>
          </p:cNvCxnSpPr>
          <p:nvPr/>
        </p:nvCxnSpPr>
        <p:spPr>
          <a:xfrm>
            <a:off x="1227281" y="1194852"/>
            <a:ext cx="8453050" cy="27279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7308246"/>
              </p:ext>
            </p:extLst>
          </p:nvPr>
        </p:nvGraphicFramePr>
        <p:xfrm>
          <a:off x="1322887" y="1456348"/>
          <a:ext cx="8261838" cy="4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790">
                  <a:extLst>
                    <a:ext uri="{9D8B030D-6E8A-4147-A177-3AD203B41FA5}">
                      <a16:colId xmlns:a16="http://schemas.microsoft.com/office/drawing/2014/main" val="2107533624"/>
                    </a:ext>
                  </a:extLst>
                </a:gridCol>
                <a:gridCol w="7158048">
                  <a:extLst>
                    <a:ext uri="{9D8B030D-6E8A-4147-A177-3AD203B41FA5}">
                      <a16:colId xmlns:a16="http://schemas.microsoft.com/office/drawing/2014/main" val="1808109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S. 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551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Motivation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373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19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869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235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544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Project Outcomes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11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Conclusions &amp; Future Scope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607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976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7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9F6290B-006D-3636-9A30-52B68ADFEE81}"/>
              </a:ext>
            </a:extLst>
          </p:cNvPr>
          <p:cNvSpPr txBox="1">
            <a:spLocks/>
          </p:cNvSpPr>
          <p:nvPr/>
        </p:nvSpPr>
        <p:spPr>
          <a:xfrm>
            <a:off x="1066800" y="355600"/>
            <a:ext cx="10744200" cy="785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b="1" strike="sngStrike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3C3E0A-C889-96CE-36AD-D70552005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88" y="1215335"/>
            <a:ext cx="9855931" cy="485889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Increasing Electricity Consumption</a:t>
            </a:r>
            <a:r>
              <a:rPr lang="en-US" dirty="0"/>
              <a:t> – The demand for electricity is increasing rapidly,      so efficient monitoring of energy usage is required.</a:t>
            </a:r>
          </a:p>
          <a:p>
            <a:endParaRPr lang="en-US" dirty="0"/>
          </a:p>
          <a:p>
            <a:r>
              <a:rPr lang="en-US" b="1" dirty="0"/>
              <a:t>Lack of Real-Time Monitoring</a:t>
            </a:r>
            <a:r>
              <a:rPr lang="en-US" dirty="0"/>
              <a:t> – Traditional energy meters do not provide real-time information about electricity consumption.</a:t>
            </a:r>
          </a:p>
          <a:p>
            <a:endParaRPr lang="en-US" dirty="0"/>
          </a:p>
          <a:p>
            <a:r>
              <a:rPr lang="en-US" b="1" dirty="0"/>
              <a:t>Energy Waste Reduction</a:t>
            </a:r>
            <a:r>
              <a:rPr lang="en-US" dirty="0"/>
              <a:t> – Monitoring energy usage helps users identify unnecessary power consumption and reduce wastage.</a:t>
            </a:r>
          </a:p>
          <a:p>
            <a:endParaRPr lang="en-US" dirty="0"/>
          </a:p>
          <a:p>
            <a:r>
              <a:rPr lang="en-US" b="1" dirty="0"/>
              <a:t>Remote Access and Control</a:t>
            </a:r>
            <a:r>
              <a:rPr lang="en-US" dirty="0"/>
              <a:t> – IoT technology allows users to monitor electricity usage from anywhere using mobile or web applications.</a:t>
            </a:r>
          </a:p>
          <a:p>
            <a:endParaRPr lang="en-US" dirty="0"/>
          </a:p>
          <a:p>
            <a:r>
              <a:rPr lang="en-US" b="1" dirty="0"/>
              <a:t>Improved Energy Management</a:t>
            </a:r>
            <a:r>
              <a:rPr lang="en-US" dirty="0"/>
              <a:t> – Real-time data helps consumers manage and plan their energy usage more effectively.</a:t>
            </a:r>
          </a:p>
          <a:p>
            <a:endParaRPr lang="en-US" dirty="0"/>
          </a:p>
          <a:p>
            <a:r>
              <a:rPr lang="en-US" b="1" dirty="0"/>
              <a:t>Cost Saving</a:t>
            </a:r>
            <a:r>
              <a:rPr lang="en-US" dirty="0"/>
              <a:t> – By monitoring energy consumption, users can reduce electricity bills.</a:t>
            </a:r>
          </a:p>
          <a:p>
            <a:endParaRPr lang="en-US" dirty="0"/>
          </a:p>
          <a:p>
            <a:r>
              <a:rPr lang="en-US" b="1" dirty="0"/>
              <a:t>Smart Grid Integration</a:t>
            </a:r>
            <a:r>
              <a:rPr lang="en-US" dirty="0"/>
              <a:t> – IoT-based meters support future smart grid systems for better energy distribution.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Support for Smart Homes and Smart Cities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– This system is useful for modern smart infrastructure and automation.</a:t>
            </a:r>
          </a:p>
          <a:p>
            <a:endParaRPr lang="en-US" dirty="0"/>
          </a:p>
          <a:p>
            <a:endParaRPr lang="en-IN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88F6EC-87DF-8333-626A-8E88196FA7EA}"/>
              </a:ext>
            </a:extLst>
          </p:cNvPr>
          <p:cNvCxnSpPr>
            <a:cxnSpLocks/>
          </p:cNvCxnSpPr>
          <p:nvPr/>
        </p:nvCxnSpPr>
        <p:spPr>
          <a:xfrm>
            <a:off x="1066800" y="987276"/>
            <a:ext cx="8983519" cy="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72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9F6290B-006D-3636-9A30-52B68ADFEE81}"/>
              </a:ext>
            </a:extLst>
          </p:cNvPr>
          <p:cNvSpPr txBox="1">
            <a:spLocks/>
          </p:cNvSpPr>
          <p:nvPr/>
        </p:nvSpPr>
        <p:spPr>
          <a:xfrm>
            <a:off x="1066800" y="355600"/>
            <a:ext cx="10744200" cy="785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3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b="1" strike="sngStrike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88F6EC-87DF-8333-626A-8E88196FA7EA}"/>
              </a:ext>
            </a:extLst>
          </p:cNvPr>
          <p:cNvCxnSpPr>
            <a:cxnSpLocks/>
          </p:cNvCxnSpPr>
          <p:nvPr/>
        </p:nvCxnSpPr>
        <p:spPr>
          <a:xfrm>
            <a:off x="1066800" y="987276"/>
            <a:ext cx="8983519" cy="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2B98028D-8C9F-D275-C2F5-D37B0C6400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9724" y="1428235"/>
            <a:ext cx="1153127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Electricity consumption is increasing rapidly in homes, industries, and commercial areas, creating a need for </a:t>
            </a: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efficient energy monitoring systems.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electricity meters only record total energy usage and do not provide real-time information to users.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IoT-Based Smart Energy Meter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designed to measure electrical parameters such as voltage, current,          power,  and energy consumption.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uses IoT technology to send collected data to a cloud platform through Wi-Fi for storage and analysis.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can monitor their electricity usage remotely using a mobile phone or </a:t>
            </a:r>
            <a:r>
              <a:rPr lang="en-US" altLang="en-US" sz="1800" dirty="0">
                <a:highlight>
                  <a:srgbClr val="FFFF00"/>
                </a:highlight>
                <a:latin typeface="Arial" panose="020B0604020202020204" pitchFamily="34" charset="0"/>
              </a:rPr>
              <a:t>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eb</a:t>
            </a:r>
            <a:r>
              <a:rPr lang="en-US" altLang="en-US" sz="1800" dirty="0">
                <a:highlight>
                  <a:srgbClr val="FFFF00"/>
                </a:highlight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dashboard.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helps in better energy management, reduces power wastage, and supports smart home and smart city applications.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20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9F6290B-006D-3636-9A30-52B68ADFEE81}"/>
              </a:ext>
            </a:extLst>
          </p:cNvPr>
          <p:cNvSpPr txBox="1">
            <a:spLocks/>
          </p:cNvSpPr>
          <p:nvPr/>
        </p:nvSpPr>
        <p:spPr>
          <a:xfrm>
            <a:off x="1066800" y="355600"/>
            <a:ext cx="10744200" cy="785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3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kern="1200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kern="1200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strike="sngStrike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b="1" strike="sngStrike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3C3E0A-C889-96CE-36AD-D70552005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2" y="1618953"/>
            <a:ext cx="10904376" cy="414596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Manual Meter Reading</a:t>
            </a:r>
            <a:r>
              <a:rPr lang="en-US" dirty="0"/>
              <a:t> – Traditional electricity meters require manual reading, which is time-consuming and may lead to human errors.</a:t>
            </a:r>
          </a:p>
          <a:p>
            <a:endParaRPr lang="en-US" dirty="0"/>
          </a:p>
          <a:p>
            <a:r>
              <a:rPr lang="en-US" b="1" dirty="0"/>
              <a:t>No Real-Time Monitoring</a:t>
            </a:r>
            <a:r>
              <a:rPr lang="en-US" dirty="0"/>
              <a:t> – Existing meters do not provide real-time information about electricity consumption to users.</a:t>
            </a:r>
          </a:p>
          <a:p>
            <a:endParaRPr lang="en-US" dirty="0"/>
          </a:p>
          <a:p>
            <a:r>
              <a:rPr lang="en-US" b="1" dirty="0"/>
              <a:t>Energy Wastage</a:t>
            </a:r>
            <a:r>
              <a:rPr lang="en-US" dirty="0"/>
              <a:t> – Without proper monitoring, users cannot identify unnecessary power usage, leading to energy wastage.</a:t>
            </a:r>
          </a:p>
          <a:p>
            <a:endParaRPr lang="en-US" dirty="0"/>
          </a:p>
          <a:p>
            <a:r>
              <a:rPr lang="en-US" b="1" dirty="0"/>
              <a:t>Delayed Billing Information</a:t>
            </a:r>
            <a:r>
              <a:rPr lang="en-US" dirty="0"/>
              <a:t> – Consumers usually know their electricity usage only when the monthly bill arrives.</a:t>
            </a:r>
          </a:p>
          <a:p>
            <a:endParaRPr lang="en-US" dirty="0"/>
          </a:p>
          <a:p>
            <a:r>
              <a:rPr lang="en-US" b="1" dirty="0"/>
              <a:t>Limited Accessibility</a:t>
            </a:r>
            <a:r>
              <a:rPr lang="en-US" dirty="0"/>
              <a:t> – Traditional systems do not allow users to monitor electricity consumption remotely.</a:t>
            </a:r>
          </a:p>
          <a:p>
            <a:r>
              <a:rPr lang="en-US" b="1" dirty="0"/>
              <a:t>Need for Smart Energy Management</a:t>
            </a:r>
            <a:r>
              <a:rPr lang="en-US" dirty="0"/>
              <a:t> – There is a need for a smart system that can monitor energy usage in real time and store the data on a cloud platform for easy access.</a:t>
            </a:r>
          </a:p>
          <a:p>
            <a:endParaRPr lang="en-IN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88F6EC-87DF-8333-626A-8E88196FA7EA}"/>
              </a:ext>
            </a:extLst>
          </p:cNvPr>
          <p:cNvCxnSpPr>
            <a:cxnSpLocks/>
          </p:cNvCxnSpPr>
          <p:nvPr/>
        </p:nvCxnSpPr>
        <p:spPr>
          <a:xfrm>
            <a:off x="1066800" y="987276"/>
            <a:ext cx="8983519" cy="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38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9F6290B-006D-3636-9A30-52B68ADFEE81}"/>
              </a:ext>
            </a:extLst>
          </p:cNvPr>
          <p:cNvSpPr txBox="1">
            <a:spLocks/>
          </p:cNvSpPr>
          <p:nvPr/>
        </p:nvSpPr>
        <p:spPr>
          <a:xfrm>
            <a:off x="1066800" y="355600"/>
            <a:ext cx="10744200" cy="785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3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200" kern="1200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kern="1200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strike="sngStrike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b="1" strike="sngStrike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88F6EC-87DF-8333-626A-8E88196FA7EA}"/>
              </a:ext>
            </a:extLst>
          </p:cNvPr>
          <p:cNvCxnSpPr>
            <a:cxnSpLocks/>
          </p:cNvCxnSpPr>
          <p:nvPr/>
        </p:nvCxnSpPr>
        <p:spPr>
          <a:xfrm>
            <a:off x="1066800" y="987276"/>
            <a:ext cx="8983519" cy="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E583173A-579A-17E6-43C3-C47F47C252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5928" y="1995906"/>
            <a:ext cx="1088014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measure electrical parameters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 voltage, current, power, and energy consumption accurately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smart energy monitoring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IoT technology.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send energy consumption data to the cloud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storage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remote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electricity usage through a mobile or web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energy wastage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providing real-time information to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energy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help users control their electricity consumption and cost.</a:t>
            </a:r>
          </a:p>
        </p:txBody>
      </p:sp>
    </p:spTree>
    <p:extLst>
      <p:ext uri="{BB962C8B-B14F-4D97-AF65-F5344CB8AC3E}">
        <p14:creationId xmlns:p14="http://schemas.microsoft.com/office/powerpoint/2010/main" val="169489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9F6290B-006D-3636-9A30-52B68ADFEE81}"/>
              </a:ext>
            </a:extLst>
          </p:cNvPr>
          <p:cNvSpPr txBox="1">
            <a:spLocks/>
          </p:cNvSpPr>
          <p:nvPr/>
        </p:nvSpPr>
        <p:spPr>
          <a:xfrm>
            <a:off x="1066800" y="355600"/>
            <a:ext cx="10744200" cy="785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3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kern="1200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strike="sngStrike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b="1" strike="sngStrike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88F6EC-87DF-8333-626A-8E88196FA7EA}"/>
              </a:ext>
            </a:extLst>
          </p:cNvPr>
          <p:cNvCxnSpPr>
            <a:cxnSpLocks/>
          </p:cNvCxnSpPr>
          <p:nvPr/>
        </p:nvCxnSpPr>
        <p:spPr>
          <a:xfrm>
            <a:off x="1066800" y="987276"/>
            <a:ext cx="8983519" cy="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28F94901-E3A5-38EE-4E54-A287173556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22831"/>
            <a:ext cx="113538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Design the smart energy meter system using sensors, a microcontroller, and a Wi-Fi communication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Measurement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Sensors measure electrical parameters such as voltage, current, power, and energy consumption.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microcontroller processes the collected data from the sensors.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Transmission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processed data is sent to a cloud platform using IoT and Wi-Fi technology.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Storage and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cloud platform stores the data and displays it on a dashboard for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Users can monitor electricity consumption remotely through a mobile phone or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2368379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F80D-327C-0AD9-814C-F36923C4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913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84446-34D6-EABE-3BC9-E0FF3067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88F6EC-87DF-8333-626A-8E88196FA7EA}"/>
              </a:ext>
            </a:extLst>
          </p:cNvPr>
          <p:cNvCxnSpPr>
            <a:cxnSpLocks/>
          </p:cNvCxnSpPr>
          <p:nvPr/>
        </p:nvCxnSpPr>
        <p:spPr>
          <a:xfrm>
            <a:off x="908539" y="987276"/>
            <a:ext cx="8983519" cy="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DAB1A234-E72F-B54D-4F8A-277544FE2C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103" y="1207910"/>
            <a:ext cx="1144671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Access to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Users can monitor their energy usage from anywhere using a mobile phone or web dashboard.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Measurement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project provides accurate readings of electrical parameters such as voltage, current, power, and energy.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Data 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Energy consumption data is stored on a cloud platform for easy access and analysis.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Energy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system successfully measures and displays electricity consumption in real time.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Efficiency Improvement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Helps users identify unnecessary power usage and reduce energy wastage.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Energy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Provides a modern solution for efficient electricity monitoring in homes and industries. </a:t>
            </a:r>
          </a:p>
        </p:txBody>
      </p:sp>
    </p:spTree>
    <p:extLst>
      <p:ext uri="{BB962C8B-B14F-4D97-AF65-F5344CB8AC3E}">
        <p14:creationId xmlns:p14="http://schemas.microsoft.com/office/powerpoint/2010/main" val="3110941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9DA35-62E2-8773-572C-0518BFDA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C690-B496-504F-701F-907BBC86C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038"/>
            <a:ext cx="10515600" cy="5077925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IoT-Based Smart Energy Meter with Cloud Monitoring</a:t>
            </a:r>
            <a:r>
              <a:rPr lang="en-US" dirty="0"/>
              <a:t> provides an efficient way to monitor electricity consumption in real time.</a:t>
            </a:r>
          </a:p>
          <a:p>
            <a:endParaRPr lang="en-US" dirty="0"/>
          </a:p>
          <a:p>
            <a:r>
              <a:rPr lang="en-US" dirty="0"/>
              <a:t>The system measures important electrical parameters such as voltage, current, power, and energy usage accurately.</a:t>
            </a:r>
          </a:p>
          <a:p>
            <a:endParaRPr lang="en-US" dirty="0"/>
          </a:p>
          <a:p>
            <a:r>
              <a:rPr lang="en-US" dirty="0"/>
              <a:t>By using IoT technology, the collected data can be sent to the cloud and accessed remotely by users.</a:t>
            </a:r>
          </a:p>
          <a:p>
            <a:endParaRPr lang="en-US" dirty="0"/>
          </a:p>
          <a:p>
            <a:r>
              <a:rPr lang="en-US" dirty="0"/>
              <a:t>This helps consumers understand their electricity usage and reduce unnecessary power consumption.</a:t>
            </a:r>
          </a:p>
          <a:p>
            <a:endParaRPr lang="en-US" dirty="0"/>
          </a:p>
          <a:p>
            <a:r>
              <a:rPr lang="en-US" dirty="0"/>
              <a:t>Overall, the project improves energy management and supports the development of smart homes and smart energy systems.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2A267-DEC3-5F45-1BAE-BE459F200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88F6EC-87DF-8333-626A-8E88196FA7EA}"/>
              </a:ext>
            </a:extLst>
          </p:cNvPr>
          <p:cNvCxnSpPr>
            <a:cxnSpLocks/>
          </p:cNvCxnSpPr>
          <p:nvPr/>
        </p:nvCxnSpPr>
        <p:spPr>
          <a:xfrm>
            <a:off x="908539" y="987276"/>
            <a:ext cx="8983519" cy="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820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DA1E-594D-C120-AB7C-4BCA9D151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BA292-2813-1FE0-F25F-13C2CF0B8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9" y="1471062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system can be integrated with </a:t>
            </a:r>
            <a:r>
              <a:rPr lang="en-US" b="1" dirty="0"/>
              <a:t>mobile applications</a:t>
            </a:r>
            <a:r>
              <a:rPr lang="en-US" dirty="0"/>
              <a:t> for better user interface and notifications.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can be connected with </a:t>
            </a:r>
            <a:r>
              <a:rPr lang="en-US" b="1" dirty="0"/>
              <a:t>smart home automation systems</a:t>
            </a:r>
            <a:r>
              <a:rPr lang="en-US" dirty="0"/>
              <a:t> to automatically control electrical appliances.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Advanced </a:t>
            </a:r>
            <a:r>
              <a:rPr lang="en-US" b="1" dirty="0"/>
              <a:t>data analytics and AI</a:t>
            </a:r>
            <a:r>
              <a:rPr lang="en-US" dirty="0"/>
              <a:t> can be used to predict future energy consumption.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system can include </a:t>
            </a:r>
            <a:r>
              <a:rPr lang="en-US" b="1" dirty="0"/>
              <a:t>alert features</a:t>
            </a:r>
            <a:r>
              <a:rPr lang="en-US" dirty="0"/>
              <a:t> to notify users about high electricity usage or overload conditions.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can be implemented on a </a:t>
            </a:r>
            <a:r>
              <a:rPr lang="en-US" b="1" dirty="0"/>
              <a:t>large scale in smart grids and smart cities</a:t>
            </a:r>
            <a:r>
              <a:rPr lang="en-US" dirty="0"/>
              <a:t> for efficient energy distribution.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452FB-26B7-4982-9C6A-A7C64D3C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2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9F6290B-006D-3636-9A30-52B68ADFEE81}"/>
              </a:ext>
            </a:extLst>
          </p:cNvPr>
          <p:cNvSpPr txBox="1">
            <a:spLocks/>
          </p:cNvSpPr>
          <p:nvPr/>
        </p:nvSpPr>
        <p:spPr>
          <a:xfrm>
            <a:off x="1066800" y="355600"/>
            <a:ext cx="10744200" cy="785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strike="sngStrike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3C3E0A-C889-96CE-36AD-D70552005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Research papers and articles on </a:t>
            </a:r>
            <a:r>
              <a:rPr lang="en-US" b="1" dirty="0"/>
              <a:t>IoT-based smart energy meter systems</a:t>
            </a:r>
            <a:r>
              <a:rPr lang="en-US" dirty="0"/>
              <a:t> from </a:t>
            </a:r>
            <a:r>
              <a:rPr lang="en-US" b="1" dirty="0"/>
              <a:t>IEEE Xplore Digital Library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Research papers and articles on </a:t>
            </a:r>
            <a:r>
              <a:rPr lang="en-US" b="1" dirty="0"/>
              <a:t>IoT-based smart energy meter systems</a:t>
            </a:r>
            <a:r>
              <a:rPr lang="en-US" dirty="0"/>
              <a:t> from </a:t>
            </a:r>
            <a:r>
              <a:rPr lang="en-US" b="1" dirty="0"/>
              <a:t>IEEE Xplore Digital Library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Online resources and tutorials related to </a:t>
            </a:r>
            <a:r>
              <a:rPr lang="en-US" b="1" dirty="0"/>
              <a:t>IoT and smart energy monitoring systems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88F6EC-87DF-8333-626A-8E88196FA7EA}"/>
              </a:ext>
            </a:extLst>
          </p:cNvPr>
          <p:cNvCxnSpPr>
            <a:cxnSpLocks/>
          </p:cNvCxnSpPr>
          <p:nvPr/>
        </p:nvCxnSpPr>
        <p:spPr>
          <a:xfrm>
            <a:off x="1066800" y="987276"/>
            <a:ext cx="8983519" cy="0"/>
          </a:xfrm>
          <a:prstGeom prst="line">
            <a:avLst/>
          </a:prstGeom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670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57">
            <a:extLst>
              <a:ext uri="{FF2B5EF4-FFF2-40B4-BE49-F238E27FC236}">
                <a16:creationId xmlns:a16="http://schemas.microsoft.com/office/drawing/2014/main" id="{FA52A6E3-3059-1CF6-52B9-0F1973A9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b="1" u="sng" dirty="0"/>
              <a:t>CLOUDE MONITORING DASHBOARD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7D71A-E1A4-7F1B-3C56-185E9948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0D28E06-7F3F-8434-372F-E08155A2D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318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11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14F8DC-CE74-0EF7-3B0E-9B5A7F54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9957B-A5BC-744A-CA37-5AE2C3FFF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15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811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2313</TotalTime>
  <Words>1123</Words>
  <Application>Microsoft Office PowerPoint</Application>
  <PresentationFormat>Widescreen</PresentationFormat>
  <Paragraphs>174</Paragraphs>
  <Slides>14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Casper</vt:lpstr>
      <vt:lpstr>Times New Roman</vt:lpstr>
      <vt:lpstr>Wingdings</vt:lpstr>
      <vt:lpstr>1_Office Theme</vt:lpstr>
      <vt:lpstr>Contents Slide Master</vt:lpstr>
      <vt:lpstr>CorelDRAW</vt:lpstr>
      <vt:lpstr>IOT-BASED SMART ENERGY METER WITH CLOUD MONITORING</vt:lpstr>
      <vt:lpstr>Outlines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Outcomes</vt:lpstr>
      <vt:lpstr>Conclusion  </vt:lpstr>
      <vt:lpstr>Future Scope</vt:lpstr>
      <vt:lpstr>PowerPoint Presentation</vt:lpstr>
      <vt:lpstr>CLOUDE MONITORING DASHBOARD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anuj rai</cp:lastModifiedBy>
  <cp:revision>238</cp:revision>
  <dcterms:created xsi:type="dcterms:W3CDTF">2019-01-09T10:33:58Z</dcterms:created>
  <dcterms:modified xsi:type="dcterms:W3CDTF">2026-03-10T17:06:47Z</dcterms:modified>
</cp:coreProperties>
</file>